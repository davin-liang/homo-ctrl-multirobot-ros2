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99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920240"/>
            <a:ext cx="1078992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3200" b="1">
                <a:solidFill>
                  <a:srgbClr val="1F4E79"/>
                </a:solidFill>
                <a:latin typeface="宋体"/>
              </a:rPr>
              <a:t>双移动机器人实物跟踪实验汇报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1005840" y="2743200"/>
            <a:ext cx="101498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000" b="0">
                <a:solidFill>
                  <a:srgbClr val="505050"/>
                </a:solidFill>
                <a:latin typeface="宋体"/>
              </a:rPr>
              <a:t>Artstein-HPC / Artstein-LPC 阶段性实物结果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3703320"/>
            <a:ext cx="1014984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800" b="1">
                <a:solidFill>
                  <a:srgbClr val="0070C0"/>
                </a:solidFill>
                <a:latin typeface="宋体"/>
              </a:rPr>
              <a:t>统一评价基准：理想编队半径 1.0 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实验任务与阶段目标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800">
                <a:solidFill>
                  <a:srgbClr val="2D2D2D"/>
                </a:solidFill>
                <a:latin typeface="宋体"/>
              </a:defRPr>
            </a:pPr>
            <a:r>
              <a:t>在双 mini_omni Leader–Follower 场景中记录 Artstein-HPC 与 Artstein-LPC 实物跟踪。</a:t>
            </a:r>
          </a:p>
          <a:p>
            <a:pPr>
              <a:spcAft>
                <a:spcPts val="1400"/>
              </a:spcAft>
              <a:defRPr sz="1800">
                <a:solidFill>
                  <a:srgbClr val="2D2D2D"/>
                </a:solidFill>
                <a:latin typeface="宋体"/>
              </a:defRPr>
            </a:pPr>
            <a:r>
              <a:t>统一评价：实际两车间距 − 1.0 m；末帧指标取该距离误差的绝对值。</a:t>
            </a:r>
          </a:p>
          <a:p>
            <a:pPr>
              <a:spcAft>
                <a:spcPts val="1400"/>
              </a:spcAft>
              <a:defRPr sz="1800">
                <a:solidFill>
                  <a:srgbClr val="2D2D2D"/>
                </a:solidFill>
                <a:latin typeface="宋体"/>
              </a:defRPr>
            </a:pPr>
            <a:r>
              <a:t>本阶段目标：形成可复核的条件、指标与图表，并明确现有结果的适用边界。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实物平台与数据流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control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051560"/>
            <a:ext cx="6675120" cy="50292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635240" y="1325880"/>
            <a:ext cx="3931920" cy="4389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600">
                <a:solidFill>
                  <a:srgbClr val="2D2D2D"/>
                </a:solidFill>
                <a:latin typeface="宋体"/>
              </a:defRPr>
            </a:pPr>
            <a:r>
              <a:t>两台 mini_omni 全向移动机器人；状态源为动捕。</a:t>
            </a:r>
          </a:p>
          <a:p>
            <a:pPr>
              <a:spcAft>
                <a:spcPts val="1400"/>
              </a:spcAft>
              <a:defRPr sz="1600">
                <a:solidFill>
                  <a:srgbClr val="2D2D2D"/>
                </a:solidFill>
                <a:latin typeface="宋体"/>
              </a:defRPr>
            </a:pPr>
            <a:r>
              <a:t>Leader 由速度命令驱动；Follower 依据相对编队误差输出速度命令。</a:t>
            </a:r>
          </a:p>
          <a:p>
            <a:pPr>
              <a:spcAft>
                <a:spcPts val="1400"/>
              </a:spcAft>
              <a:defRPr sz="1600">
                <a:solidFill>
                  <a:srgbClr val="2D2D2D"/>
                </a:solidFill>
                <a:latin typeface="宋体"/>
              </a:defRPr>
            </a:pPr>
            <a:r>
              <a:t>控制频率 20 Hz；单条有效记录约 45 s。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控制方法：Artstein + Follower 前向预测 + HPC/LPC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Artstein 变换用于处理输入延迟；HPC/LPC 为两类控制配置。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Follower 前向预测：由 Follower 当前动捕状态、最近输出命令和电机时间常数 τ 预测短时状态，补偿执行器响应。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Leader 命令速度前馈：可选 Leader cmd_vel 速度增量支路，直接叠加到控制输出。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两者是不同支路：前馈开/关不是 Follower 前向预测开/关。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实验流程与统一条件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共同配置：Leader /robot1；Follower /robot2；20 Hz；tau=0.43 s；Td=0.22 s。状态源：动捕。</a:t>
            </a:r>
          </a:p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评价采用控制器 radius=1.0 m；recording.ideal_radius_m=2.0 为记录器历史配置，不参与本次误差计算。</a:t>
            </a:r>
          </a:p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复现实验流程：准备机器人与动捕，核对状态话题和控制参数 → 启动 Follower 控制器与 Leader 轨迹 → 录制 45 s 并保存 raw.csv、metadata.yaml → 停止轨迹和控制器，确认两车停止。</a:t>
            </a:r>
          </a:p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HPC 前馈开/关：Leader 均速约 0.246 m/s。LPC：λ=2.0 / 0.20 m/s；λ=2.5 / 0.25 m/s。</a:t>
            </a:r>
          </a:p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前馈开关按元数据 enable_leader_cmd_feedforward 核对，不依据目录名或 controller 字符串。</a:t>
            </a:r>
          </a:p>
          <a:p>
            <a:pPr>
              <a:spcAft>
                <a:spcPts val="1400"/>
              </a:spcAft>
              <a:defRPr sz="1500">
                <a:solidFill>
                  <a:srgbClr val="2D2D2D"/>
                </a:solidFill>
                <a:latin typeface="宋体"/>
              </a:defRPr>
            </a:pPr>
            <a:r>
              <a:t>后续图表来源目录相对于 homo_multirobot_formation_control；使用各目录 raw.csv 与 metadata.yaml。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实验一：Leader 命令速度前馈开/关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feedforward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24128"/>
            <a:ext cx="5394960" cy="3794760"/>
          </a:xfrm>
          <a:prstGeom prst="rect">
            <a:avLst/>
          </a:prstGeom>
        </p:spPr>
      </p:pic>
      <p:pic>
        <p:nvPicPr>
          <p:cNvPr id="5" name="Picture 4" descr="feedforward_distance_err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24128"/>
            <a:ext cx="5394960" cy="379476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507492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2D2D2D"/>
                </a:solidFill>
                <a:latin typeface="宋体"/>
              </a:rPr>
              <a:t>开启：平均绝对误差 0.1202 m；RMS 0.2791 m；末帧 0.0355 m
关闭：平均绝对误差 0.1282 m；RMS 0.2895 m；末帧 0.0165 m
开启组前两项汇总指标较低，但末帧绝对误差更高；仅描述已记录实测差异。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6080760"/>
            <a:ext cx="10881360" cy="5943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05050"/>
                </a:solidFill>
                <a:latin typeface="宋体"/>
              </a:rPr>
              <a:t>两图来源 A、B（A：HPC 前馈开；B：HPC 前馈关）
A：robot_traj/real/4d_artstein_forward_8traj_20260914_204226 / trial_02
B：robot_traj/real/4d_artstein_no_forward_8traj_20260914_204546 / trial_01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实验二：HPC/LPC 阶段性结果与安全边界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hpc_lpc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005840"/>
            <a:ext cx="5394960" cy="3200400"/>
          </a:xfrm>
          <a:prstGeom prst="rect">
            <a:avLst/>
          </a:prstGeom>
        </p:spPr>
      </p:pic>
      <p:pic>
        <p:nvPicPr>
          <p:cNvPr id="5" name="Picture 4" descr="hpc_lpc_distance_erro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005840"/>
            <a:ext cx="5394960" cy="32004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58368" y="4370832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2D2D2D"/>
                </a:solidFill>
                <a:latin typeface="宋体"/>
              </a:rPr>
              <a:t>HPC 代表组 A（前馈开）：平均绝对误差 0.1202 m，RMS 0.2791 m。
LPC λ=2.0：平均绝对误差 0.4001 m，RMS 0.4547 m；LPC λ=2.5：0.4144 m，0.4771 m。
安全边界：λ初值=1.5、Leader 速度 0.25 m/s 时发生碰撞，未形成有效轨迹统计。λ初值与 Leader 速度同时变化，现有 HPC/LPC 结果仅说明阶段性可运行性和现象，不宣称严格单变量性能优劣。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58368" y="5852160"/>
            <a:ext cx="10881360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1000" b="0">
                <a:solidFill>
                  <a:srgbClr val="505050"/>
                </a:solidFill>
                <a:latin typeface="宋体"/>
              </a:rPr>
              <a:t>两图来源 A、C、D（A：HPC 前馈开；C：LPC λ=2.0；D：LPC λ=2.5）
A：robot_traj/real/4d_artstein_forward_8traj_20260914_204226 / trial_02
C：robot_traj/real/4d_artstein_lpc_20260915_104805 / trial_01
D：robot_traj/real/4d_artstein_lpc_20260915_105440 / trial_02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最新实物实验视频（占位页）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1706880" y="1097280"/>
            <a:ext cx="8778240" cy="4937760"/>
          </a:xfrm>
          <a:prstGeom prst="rect">
            <a:avLst/>
          </a:prstGeom>
          <a:noFill/>
          <a:ln w="28575">
            <a:solidFill>
              <a:srgbClr val="0070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34440" y="2834640"/>
            <a:ext cx="969264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1F4E79"/>
                </a:solidFill>
                <a:latin typeface="宋体"/>
              </a:rPr>
              <a:t>请在此处手动插入最新实物实验视频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34440" y="3429000"/>
            <a:ext cx="969264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0">
                <a:solidFill>
                  <a:srgbClr val="505050"/>
                </a:solidFill>
                <a:latin typeface="宋体"/>
              </a:rPr>
              <a:t>建议对应：Artstein-LPC，λ初值=2.5，Leader 速度=0.25 m/s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43891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2600" b="1">
                <a:solidFill>
                  <a:srgbClr val="1F4E79"/>
                </a:solidFill>
                <a:latin typeface="宋体"/>
              </a:rPr>
              <a:t>阶段结论与下一步工作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795528"/>
            <a:ext cx="1417320" cy="45720"/>
          </a:xfrm>
          <a:prstGeom prst="rect">
            <a:avLst/>
          </a:prstGeom>
          <a:solidFill>
            <a:srgbClr val="0070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698480" cy="5212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已形成统一的实物条件表、1.0 m 基准指标表及可复核图表。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HPC 前馈开/关结果存在指标间差异，应保留原始实测描述，不外推为全面改善。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LPC 结果受 λ初值与 Leader 速度共同变化以及 λ=1.5 碰撞边界限制，仅作阶段性观察。</a:t>
            </a:r>
          </a:p>
          <a:p>
            <a:pPr>
              <a:spcAft>
                <a:spcPts val="1400"/>
              </a:spcAft>
              <a:defRPr sz="1700">
                <a:solidFill>
                  <a:srgbClr val="2D2D2D"/>
                </a:solidFill>
                <a:latin typeface="宋体"/>
              </a:defRPr>
            </a:pPr>
            <a:r>
              <a:t>下一步：固定 Leader 速度、初始 λ 及其他运行条件，补充可重复试验，并持续核对前馈支路标注。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