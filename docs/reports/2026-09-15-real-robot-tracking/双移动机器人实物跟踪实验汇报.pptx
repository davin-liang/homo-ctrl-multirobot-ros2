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F4E79"/>
                </a:solidFill>
                <a:latin typeface="宋体"/>
              </a:rPr>
              <a:t>双移动机器人实物跟踪实验汇报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05050"/>
                </a:solidFill>
                <a:latin typeface="宋体"/>
              </a:rPr>
              <a:t>Artstein-HPC / Artstein-LPC 阶段性实物结果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70332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70C0"/>
                </a:solidFill>
                <a:latin typeface="宋体"/>
              </a:rPr>
              <a:t>统一评价基准：理想编队半径 1.0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宋体"/>
              </a:rPr>
              <a:t>实验任务与阶段目标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141732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  <a:latin typeface="宋体"/>
              </a:defRPr>
            </a:pPr>
            <a:r>
              <a:t>在双 mini_omni Leader–Follower 场景中记录 Artstein-HPC 与 Artstein-LPC 实物跟踪。</a:t>
            </a:r>
          </a:p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  <a:latin typeface="宋体"/>
              </a:defRPr>
            </a:pPr>
            <a:r>
              <a:t>统一评价：实际两车间距 − 1.0 m；末帧指标取该距离误差的绝对值。</a:t>
            </a:r>
          </a:p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  <a:latin typeface="宋体"/>
              </a:defRPr>
            </a:pPr>
            <a:r>
              <a:t>本阶段目标：形成可复核的条件、指标与图表，并明确现有结果的适用边界。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宋体"/>
              </a:rPr>
              <a:t>实物平台与数据流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141732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tro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66751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325880"/>
            <a:ext cx="3931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宋体"/>
              </a:defRPr>
            </a:pPr>
            <a:r>
              <a:t>两台 mini_omni 全向移动机器人；状态源为动捕。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宋体"/>
              </a:defRPr>
            </a:pPr>
            <a:r>
              <a:t>Leader 由速度命令驱动；Follower 依据相对编队误差输出速度命令。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  <a:latin typeface="宋体"/>
              </a:defRPr>
            </a:pPr>
            <a:r>
              <a:t>控制频率 20 Hz；单条有效记录约 45 s。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宋体"/>
              </a:rPr>
              <a:t>控制方法：Artstein + Follower 前向预测 + HPC/LPC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141732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D2D2D"/>
                </a:solidFill>
                <a:latin typeface="宋体"/>
              </a:defRPr>
            </a:pPr>
            <a:r>
              <a:t>Artstein 变换用于处理输入延迟；HPC/LPC 为两类控制配置。</a:t>
            </a:r>
          </a:p>
          <a:p>
            <a:pPr>
              <a:spcAft>
                <a:spcPts val="1400"/>
              </a:spcAft>
              <a:defRPr sz="1700">
                <a:solidFill>
                  <a:srgbClr val="2D2D2D"/>
                </a:solidFill>
                <a:latin typeface="宋体"/>
              </a:defRPr>
            </a:pPr>
            <a:r>
              <a:t>Follower 前向预测：由 Follower 当前动捕状态、最近输出命令和电机时间常数 τ 预测短时状态，补偿执行器响应。</a:t>
            </a:r>
          </a:p>
          <a:p>
            <a:pPr>
              <a:spcAft>
                <a:spcPts val="1400"/>
              </a:spcAft>
              <a:defRPr sz="1700">
                <a:solidFill>
                  <a:srgbClr val="2D2D2D"/>
                </a:solidFill>
                <a:latin typeface="宋体"/>
              </a:defRPr>
            </a:pPr>
            <a:r>
              <a:t>Leader 命令速度前馈：可选 Leader cmd_vel 速度增量支路，直接叠加到控制输出。</a:t>
            </a:r>
          </a:p>
          <a:p>
            <a:pPr>
              <a:spcAft>
                <a:spcPts val="1400"/>
              </a:spcAft>
              <a:defRPr sz="1700">
                <a:solidFill>
                  <a:srgbClr val="2D2D2D"/>
                </a:solidFill>
                <a:latin typeface="宋体"/>
              </a:defRPr>
            </a:pPr>
            <a:r>
              <a:t>两者是不同支路：前馈开/关不是 Follower 前向预测开/关。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宋体"/>
              </a:rPr>
              <a:t>实验流程与统一条件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141732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D2D2D"/>
                </a:solidFill>
                <a:latin typeface="宋体"/>
              </a:defRPr>
            </a:pPr>
            <a:r>
              <a:t>有效记录均来自实物平台与动捕状态源；仅使用条件表、指标表中理想半径为 1.0 m 的数据。</a:t>
            </a:r>
          </a:p>
          <a:p>
            <a:pPr>
              <a:spcAft>
                <a:spcPts val="1400"/>
              </a:spcAft>
              <a:defRPr sz="1700">
                <a:solidFill>
                  <a:srgbClr val="2D2D2D"/>
                </a:solidFill>
                <a:latin typeface="宋体"/>
              </a:defRPr>
            </a:pPr>
            <a:r>
              <a:t>Artstein-HPC 前馈开/关：Leader 平均速度均约 0.246 m/s，记录时长均约 45 s。</a:t>
            </a:r>
          </a:p>
          <a:p>
            <a:pPr>
              <a:spcAft>
                <a:spcPts val="1400"/>
              </a:spcAft>
              <a:defRPr sz="1700">
                <a:solidFill>
                  <a:srgbClr val="2D2D2D"/>
                </a:solidFill>
                <a:latin typeface="宋体"/>
              </a:defRPr>
            </a:pPr>
            <a:r>
              <a:t>Artstein-LPC：λ初值=2.0 对应 Leader 速度 0.20 m/s；λ初值=2.5 对应 0.25 m/s。</a:t>
            </a:r>
          </a:p>
          <a:p>
            <a:pPr>
              <a:spcAft>
                <a:spcPts val="1400"/>
              </a:spcAft>
              <a:defRPr sz="1700">
                <a:solidFill>
                  <a:srgbClr val="2D2D2D"/>
                </a:solidFill>
                <a:latin typeface="宋体"/>
              </a:defRPr>
            </a:pPr>
            <a:r>
              <a:t>不根据原始目录名或元数据中的控制器字符串重新推断前馈状态。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宋体"/>
              </a:rPr>
              <a:t>实验一：Leader 命令速度前馈开/关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141732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edforwar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5394960" cy="3794760"/>
          </a:xfrm>
          <a:prstGeom prst="rect">
            <a:avLst/>
          </a:prstGeom>
        </p:spPr>
      </p:pic>
      <p:pic>
        <p:nvPicPr>
          <p:cNvPr id="5" name="Picture 4" descr="feedforward_distance_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24128"/>
            <a:ext cx="5394960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074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宋体"/>
              </a:rPr>
              <a:t>开启：平均绝对误差 0.1202 m；RMS 0.2791 m；末帧 0.0355 m
关闭：平均绝对误差 0.1282 m；RMS 0.2895 m；末帧 0.0165 m
开启组前两项汇总指标较低，但末帧绝对误差更高；仅描述已记录实测差异。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宋体"/>
              </a:rPr>
              <a:t>实验二：HPC/LPC 阶段性结果与安全边界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141732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pc_lpc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5394960" cy="3200400"/>
          </a:xfrm>
          <a:prstGeom prst="rect">
            <a:avLst/>
          </a:prstGeom>
        </p:spPr>
      </p:pic>
      <p:pic>
        <p:nvPicPr>
          <p:cNvPr id="5" name="Picture 4" descr="hpc_lpc_distance_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05840"/>
            <a:ext cx="539496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4480560"/>
            <a:ext cx="10881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宋体"/>
              </a:rPr>
              <a:t>LPC λ=2.0：平均绝对误差 0.4001 m，RMS 0.4547 m；LPC λ=2.5：0.4144 m，0.4771 m。
安全边界：λ初值=1.5、Leader 速度 0.25 m/s 时发生碰撞，未形成有效轨迹统计。λ初值与 Leader 速度同时变化，现有 HPC/LPC 结果仅说明阶段性可运行性和现象，不宣称严格单变量性能优劣。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宋体"/>
              </a:rPr>
              <a:t>最新实物实验视频（占位页）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141732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06880" y="1097280"/>
            <a:ext cx="8778240" cy="493776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8346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  <a:latin typeface="宋体"/>
              </a:rPr>
              <a:t>请在此处手动插入最新实物实验视频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4290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505050"/>
                </a:solidFill>
                <a:latin typeface="宋体"/>
              </a:rPr>
              <a:t>建议对应：Artstein-LPC，λ初值=2.5，Leader 速度=0.25 m/s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宋体"/>
              </a:rPr>
              <a:t>阶段结论与下一步工作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95528"/>
            <a:ext cx="141732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D2D2D"/>
                </a:solidFill>
                <a:latin typeface="宋体"/>
              </a:defRPr>
            </a:pPr>
            <a:r>
              <a:t>已形成统一的实物条件表、1.0 m 基准指标表及可复核图表。</a:t>
            </a:r>
          </a:p>
          <a:p>
            <a:pPr>
              <a:spcAft>
                <a:spcPts val="1400"/>
              </a:spcAft>
              <a:defRPr sz="1700">
                <a:solidFill>
                  <a:srgbClr val="2D2D2D"/>
                </a:solidFill>
                <a:latin typeface="宋体"/>
              </a:defRPr>
            </a:pPr>
            <a:r>
              <a:t>HPC 前馈开/关结果存在指标间差异，应保留原始实测描述，不外推为全面改善。</a:t>
            </a:r>
          </a:p>
          <a:p>
            <a:pPr>
              <a:spcAft>
                <a:spcPts val="1400"/>
              </a:spcAft>
              <a:defRPr sz="1700">
                <a:solidFill>
                  <a:srgbClr val="2D2D2D"/>
                </a:solidFill>
                <a:latin typeface="宋体"/>
              </a:defRPr>
            </a:pPr>
            <a:r>
              <a:t>LPC 结果受 λ初值与 Leader 速度共同变化以及 λ=1.5 碰撞边界限制，仅作阶段性观察。</a:t>
            </a:r>
          </a:p>
          <a:p>
            <a:pPr>
              <a:spcAft>
                <a:spcPts val="1400"/>
              </a:spcAft>
              <a:defRPr sz="1700">
                <a:solidFill>
                  <a:srgbClr val="2D2D2D"/>
                </a:solidFill>
                <a:latin typeface="宋体"/>
              </a:defRPr>
            </a:pPr>
            <a:r>
              <a:t>下一步：固定 Leader 速度、初始 λ 及其他运行条件，补充可重复试验，并持续核对前馈支路标注。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